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7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F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56448" y="0"/>
            <a:ext cx="4032504" cy="6858000"/>
          </a:xfrm>
          <a:prstGeom prst="rect">
            <a:avLst/>
          </a:prstGeom>
          <a:solidFill>
            <a:srgbClr val="16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72016" y="164592"/>
            <a:ext cx="2788920" cy="2788920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1080" y="4315968"/>
            <a:ext cx="2148840" cy="2148840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61320" y="5120640"/>
            <a:ext cx="1143000" cy="1143000"/>
          </a:xfrm>
          <a:prstGeom prst="ellipse">
            <a:avLst/>
          </a:prstGeom>
          <a:solidFill>
            <a:srgbClr val="5F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21792"/>
            <a:ext cx="3474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5FB6C7"/>
                </a:solidFill>
                <a:latin typeface="Aptos"/>
              </a:rPr>
              <a:t>RECEITA CERTA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143000"/>
            <a:ext cx="672084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Do indicador de glosa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à orquestração do faturamento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24912"/>
            <a:ext cx="5989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8D7E7"/>
                </a:solidFill>
                <a:latin typeface="Aptos"/>
              </a:rPr>
              <a:t>Implantação da plataforma integrada do ciclo da receita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218688"/>
            <a:ext cx="6263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FC6D4"/>
                </a:solidFill>
                <a:latin typeface="Aptos"/>
              </a:rPr>
              <a:t>Visão estratégica • funcionalidades • problemas resolvidos • comparativo ZeroGlosa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4736592"/>
            <a:ext cx="987552" cy="283464"/>
          </a:xfrm>
          <a:prstGeom prst="roundRect">
            <a:avLst/>
          </a:prstGeom>
          <a:solidFill>
            <a:srgbClr val="173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05172"/>
            <a:ext cx="84124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PRODUÇÃO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56231" y="4873752"/>
            <a:ext cx="109729" cy="0"/>
          </a:xfrm>
          <a:prstGeom prst="line">
            <a:avLst/>
          </a:prstGeom>
          <a:ln w="17780">
            <a:solidFill>
              <a:srgbClr val="5FB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1929384" y="4809744"/>
            <a:ext cx="128016" cy="128016"/>
          </a:xfrm>
          <a:prstGeom prst="triangle">
            <a:avLst/>
          </a:prstGeom>
          <a:solidFill>
            <a:srgbClr val="5F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30552" y="4736592"/>
            <a:ext cx="768096" cy="283464"/>
          </a:xfrm>
          <a:prstGeom prst="roundRect">
            <a:avLst/>
          </a:prstGeom>
          <a:solidFill>
            <a:srgbClr val="173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03704" y="4805172"/>
            <a:ext cx="62179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FISCAL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62656" y="4873752"/>
            <a:ext cx="128016" cy="0"/>
          </a:xfrm>
          <a:prstGeom prst="line">
            <a:avLst/>
          </a:prstGeom>
          <a:ln w="17780">
            <a:solidFill>
              <a:srgbClr val="5FB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3054096" y="4809744"/>
            <a:ext cx="128016" cy="128016"/>
          </a:xfrm>
          <a:prstGeom prst="triangle">
            <a:avLst/>
          </a:prstGeom>
          <a:solidFill>
            <a:srgbClr val="5F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55264" y="4736592"/>
            <a:ext cx="768096" cy="283464"/>
          </a:xfrm>
          <a:prstGeom prst="roundRect">
            <a:avLst/>
          </a:prstGeom>
          <a:solidFill>
            <a:srgbClr val="173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28416" y="4805172"/>
            <a:ext cx="62179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CAIXA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87368" y="4873752"/>
            <a:ext cx="128016" cy="0"/>
          </a:xfrm>
          <a:prstGeom prst="line">
            <a:avLst/>
          </a:prstGeom>
          <a:ln w="17780">
            <a:solidFill>
              <a:srgbClr val="5FB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178808" y="4809744"/>
            <a:ext cx="128016" cy="128016"/>
          </a:xfrm>
          <a:prstGeom prst="triangle">
            <a:avLst/>
          </a:prstGeom>
          <a:solidFill>
            <a:srgbClr val="5F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79976" y="4736592"/>
            <a:ext cx="859536" cy="283464"/>
          </a:xfrm>
          <a:prstGeom prst="roundRect">
            <a:avLst/>
          </a:prstGeom>
          <a:solidFill>
            <a:srgbClr val="173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4805172"/>
            <a:ext cx="713231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GLOSAS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0" y="4873752"/>
            <a:ext cx="146304" cy="0"/>
          </a:xfrm>
          <a:prstGeom prst="line">
            <a:avLst/>
          </a:prstGeom>
          <a:ln w="17780">
            <a:solidFill>
              <a:srgbClr val="5FB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5413248" y="4809744"/>
            <a:ext cx="128016" cy="128016"/>
          </a:xfrm>
          <a:prstGeom prst="triangle">
            <a:avLst/>
          </a:prstGeom>
          <a:solidFill>
            <a:srgbClr val="5F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14416" y="4736592"/>
            <a:ext cx="1298448" cy="283464"/>
          </a:xfrm>
          <a:prstGeom prst="roundRect">
            <a:avLst/>
          </a:prstGeom>
          <a:solidFill>
            <a:srgbClr val="173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7568" y="4805172"/>
            <a:ext cx="1152144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RECUPERAÇÃO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6144768"/>
            <a:ext cx="3108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FC6D4"/>
                </a:solidFill>
                <a:latin typeface="Aptos"/>
              </a:rPr>
              <a:t>Alta Gestão | Julho de 2026</a:t>
            </a:r>
          </a:p>
        </p:txBody>
      </p:sp>
      <p:pic>
        <p:nvPicPr>
          <p:cNvPr id="30" name="Picture 29" descr="prontocar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55648"/>
            <a:ext cx="19659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A tese executiva em uma frase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0881360" cy="1261872"/>
          </a:xfrm>
          <a:prstGeom prst="round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1955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“A glosa era o sintoma. O problema real era a fragmentação do ciclo da receita.”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55264"/>
            <a:ext cx="2587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3474720"/>
            <a:ext cx="420624" cy="420624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593592"/>
            <a:ext cx="42062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3456432"/>
            <a:ext cx="16276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Visão fim a fim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50791"/>
            <a:ext cx="2139696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475467"/>
                </a:solidFill>
                <a:latin typeface="Aptos"/>
              </a:rPr>
              <a:t>Produção hospitalar, documento fiscal, recebimento, glosa e recuperação no mesmo fluxo.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3255264"/>
            <a:ext cx="2587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21024" y="3474720"/>
            <a:ext cx="420624" cy="420624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3593592"/>
            <a:ext cx="42062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3456432"/>
            <a:ext cx="16276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Automação crítica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050791"/>
            <a:ext cx="2139696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475467"/>
                </a:solidFill>
                <a:latin typeface="Aptos"/>
              </a:rPr>
              <a:t>A emissão de NFS-e deixa de depender de e-mail, planilha e digitação repetitiva no portal.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255264"/>
            <a:ext cx="2587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2512" y="3474720"/>
            <a:ext cx="420624" cy="420624"/>
          </a:xfrm>
          <a:prstGeom prst="ellipse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593592"/>
            <a:ext cx="42062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456432"/>
            <a:ext cx="16276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Gestão por evidência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050791"/>
            <a:ext cx="2139696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475467"/>
                </a:solidFill>
                <a:latin typeface="Aptos"/>
              </a:rPr>
              <a:t>Indicadores mostram valor, prazo, convênio, motivo, recurso, perda e recuperação.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3255264"/>
            <a:ext cx="2587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3474720"/>
            <a:ext cx="420624" cy="420624"/>
          </a:xfrm>
          <a:prstGeom prst="ellipse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593592"/>
            <a:ext cx="42062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456432"/>
            <a:ext cx="16276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Governança operacional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4050791"/>
            <a:ext cx="2139696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475467"/>
                </a:solidFill>
                <a:latin typeface="Aptos"/>
              </a:rPr>
              <a:t>Permissões, trilhas de auditoria, estados de processo e tratamento de exceções.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1328" y="5559552"/>
            <a:ext cx="9217152" cy="530352"/>
          </a:xfrm>
          <a:prstGeom prst="roundRect">
            <a:avLst/>
          </a:prstGeom>
          <a:solidFill>
            <a:srgbClr val="E7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55648" y="5733288"/>
            <a:ext cx="86685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4F63"/>
                </a:solidFill>
                <a:latin typeface="Aptos"/>
              </a:rPr>
              <a:t>TI como alavanca de resultado operacional — não apenas como suporte.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INFLEXÃO ESTRATÉGICA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Da demanda inicial à visão sistêmica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97280" y="2852928"/>
            <a:ext cx="6345936" cy="0"/>
          </a:xfrm>
          <a:prstGeom prst="line">
            <a:avLst/>
          </a:prstGeom>
          <a:ln w="2794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70432" y="2578608"/>
            <a:ext cx="548640" cy="548640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743200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383280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62751"/>
                </a:solidFill>
                <a:latin typeface="Aptos"/>
              </a:rPr>
              <a:t>Demanda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822191"/>
            <a:ext cx="18288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9" b="0" i="0">
                <a:solidFill>
                  <a:srgbClr val="475467"/>
                </a:solidFill>
                <a:latin typeface="Aptos"/>
              </a:rPr>
              <a:t>Gerar indicadores de glosas hospitalares.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578608"/>
            <a:ext cx="548640" cy="548640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3383280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62751"/>
                </a:solidFill>
                <a:latin typeface="Aptos"/>
              </a:rPr>
              <a:t>Sinal da Direção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3822191"/>
            <a:ext cx="18288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9" b="0" i="0">
                <a:solidFill>
                  <a:srgbClr val="475467"/>
                </a:solidFill>
                <a:latin typeface="Aptos"/>
              </a:rPr>
              <a:t>TI como força estratégica para otimizar a máquina administrativa de faturamento.</a:t>
            </a:r>
          </a:p>
        </p:txBody>
      </p:sp>
      <p:sp>
        <p:nvSpPr>
          <p:cNvPr id="14" name="Oval 13"/>
          <p:cNvSpPr/>
          <p:nvPr/>
        </p:nvSpPr>
        <p:spPr>
          <a:xfrm>
            <a:off x="6108192" y="2578608"/>
            <a:ext cx="548640" cy="548640"/>
          </a:xfrm>
          <a:prstGeom prst="ellipse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2743200"/>
            <a:ext cx="548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5" y="3383280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62751"/>
                </a:solidFill>
                <a:latin typeface="Aptos"/>
              </a:rPr>
              <a:t>Decisão de produto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3822191"/>
            <a:ext cx="18288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69" b="0" i="0">
                <a:solidFill>
                  <a:srgbClr val="475467"/>
                </a:solidFill>
                <a:latin typeface="Aptos"/>
              </a:rPr>
              <a:t>Tratar o ciclo da receita como sistema integrado — do fato gerador ao caixa.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1600200"/>
            <a:ext cx="3145536" cy="4462272"/>
          </a:xfrm>
          <a:prstGeom prst="round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59952" y="1938528"/>
            <a:ext cx="1755648" cy="283464"/>
          </a:xfrm>
          <a:prstGeom prst="roundRect">
            <a:avLst/>
          </a:prstGeom>
          <a:solidFill>
            <a:srgbClr val="173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3104" y="2007108"/>
            <a:ext cx="1609344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5FB6C7"/>
                </a:solidFill>
                <a:latin typeface="Aptos"/>
              </a:rPr>
              <a:t>LEITURA ESTRATÉGICA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2487168"/>
            <a:ext cx="2414016" cy="786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Não bastava medir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onde a receita se perde.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3493008"/>
            <a:ext cx="2395728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C8D7E7"/>
                </a:solidFill>
                <a:latin typeface="Aptos"/>
              </a:rPr>
              <a:t>Era necessário redesenhar como a receita é produzida, documentada, recebida, contestada e recuperada.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9952" y="4937760"/>
            <a:ext cx="2048256" cy="0"/>
          </a:xfrm>
          <a:prstGeom prst="line">
            <a:avLst/>
          </a:prstGeom>
          <a:ln w="12700">
            <a:solidFill>
              <a:srgbClr val="456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59952" y="5212080"/>
            <a:ext cx="2395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FB6C7"/>
                </a:solidFill>
                <a:latin typeface="Aptos"/>
              </a:rPr>
              <a:t>Resultado: Receita Certa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5559552"/>
            <a:ext cx="23957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8D7E7"/>
                </a:solidFill>
                <a:latin typeface="Aptos"/>
              </a:rPr>
              <a:t>Uma plataforma, não uma tela isolada.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Fonte: contexto estratégico informado e evidências funcionais dos três repositórios.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Antes: o ciclo existia, mas não operava como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965960"/>
            <a:ext cx="1856231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965960"/>
            <a:ext cx="1856231" cy="64008"/>
          </a:xfrm>
          <a:prstGeom prst="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62751"/>
                </a:solidFill>
                <a:latin typeface="Aptos"/>
              </a:rPr>
              <a:t>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60320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062751"/>
                </a:solidFill>
                <a:latin typeface="Aptos"/>
              </a:rPr>
              <a:t>MV / ERP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2532888"/>
            <a:ext cx="283464" cy="0"/>
          </a:xfrm>
          <a:prstGeom prst="line">
            <a:avLst/>
          </a:prstGeom>
          <a:ln w="25400">
            <a:solidFill>
              <a:srgbClr val="B0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60904" y="2331720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B04444"/>
                </a:solidFill>
                <a:latin typeface="Aptos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965960"/>
            <a:ext cx="1856231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44368" y="1965960"/>
            <a:ext cx="1856231" cy="64008"/>
          </a:xfrm>
          <a:prstGeom prst="rect">
            <a:avLst/>
          </a:prstGeom>
          <a:solidFill>
            <a:srgbClr val="B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194560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B04444"/>
                </a:solidFill>
                <a:latin typeface="Aptos"/>
              </a:rPr>
              <a:t>PEDIDO DE NOTA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560320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062751"/>
                </a:solidFill>
                <a:latin typeface="Aptos"/>
              </a:rPr>
              <a:t>E-mail ou planilha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532888"/>
            <a:ext cx="283463" cy="0"/>
          </a:xfrm>
          <a:prstGeom prst="line">
            <a:avLst/>
          </a:prstGeom>
          <a:ln w="25400">
            <a:solidFill>
              <a:srgbClr val="B0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28616" y="2331720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B04444"/>
                </a:solidFill>
                <a:latin typeface="Aptos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965960"/>
            <a:ext cx="1856231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965960"/>
            <a:ext cx="1856231" cy="64008"/>
          </a:xfrm>
          <a:prstGeom prst="rect">
            <a:avLst/>
          </a:prstGeom>
          <a:solidFill>
            <a:srgbClr val="B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4" y="2194560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B04444"/>
                </a:solidFill>
                <a:latin typeface="Aptos"/>
              </a:rPr>
              <a:t>EMISSÃO FISCAL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560320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062751"/>
                </a:solidFill>
                <a:latin typeface="Aptos"/>
              </a:rPr>
              <a:t>Portal manual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4032" y="2532888"/>
            <a:ext cx="283464" cy="0"/>
          </a:xfrm>
          <a:prstGeom prst="line">
            <a:avLst/>
          </a:prstGeom>
          <a:ln w="25400">
            <a:solidFill>
              <a:srgbClr val="B0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96328" y="2331720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B04444"/>
                </a:solidFill>
                <a:latin typeface="Aptos"/>
              </a:rPr>
              <a:t>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9792" y="1965960"/>
            <a:ext cx="1856231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9792" y="1965960"/>
            <a:ext cx="1856231" cy="64008"/>
          </a:xfrm>
          <a:prstGeom prst="rect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2194560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C88521"/>
                </a:solidFill>
                <a:latin typeface="Aptos"/>
              </a:rPr>
              <a:t>RECEBIMENTO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560320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062751"/>
                </a:solidFill>
                <a:latin typeface="Aptos"/>
              </a:rPr>
              <a:t>Controles separados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81744" y="2532888"/>
            <a:ext cx="283464" cy="0"/>
          </a:xfrm>
          <a:prstGeom prst="line">
            <a:avLst/>
          </a:prstGeom>
          <a:ln w="25400">
            <a:solidFill>
              <a:srgbClr val="B0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64040" y="2331720"/>
            <a:ext cx="164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B04444"/>
                </a:solidFill>
                <a:latin typeface="Aptos"/>
              </a:rPr>
              <a:t>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47504" y="1965960"/>
            <a:ext cx="1856231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47504" y="1965960"/>
            <a:ext cx="1856231" cy="64008"/>
          </a:xfrm>
          <a:prstGeom prst="rect">
            <a:avLst/>
          </a:prstGeom>
          <a:solidFill>
            <a:srgbClr val="B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93808" y="2194560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B04444"/>
                </a:solidFill>
                <a:latin typeface="Aptos"/>
              </a:rPr>
              <a:t>GLOSAS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2560320"/>
            <a:ext cx="16459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062751"/>
                </a:solidFill>
                <a:latin typeface="Aptos"/>
              </a:rPr>
              <a:t>Histórico fragmentado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401568"/>
            <a:ext cx="22128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04444"/>
                </a:solidFill>
                <a:latin typeface="Aptos"/>
              </a:rPr>
              <a:t>Fragmentação operacional</a:t>
            </a:r>
          </a:p>
        </p:txBody>
      </p:sp>
      <p:sp>
        <p:nvSpPr>
          <p:cNvPr id="34" name="Oval 33"/>
          <p:cNvSpPr/>
          <p:nvPr/>
        </p:nvSpPr>
        <p:spPr>
          <a:xfrm>
            <a:off x="704088" y="3986784"/>
            <a:ext cx="310896" cy="310896"/>
          </a:xfrm>
          <a:prstGeom prst="ellipse">
            <a:avLst/>
          </a:prstGeom>
          <a:solidFill>
            <a:srgbClr val="FCECEB"/>
          </a:solidFill>
          <a:ln w="12700">
            <a:solidFill>
              <a:srgbClr val="B0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069080"/>
            <a:ext cx="310896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04444"/>
                </a:solidFill>
                <a:latin typeface="Aptos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3950208"/>
            <a:ext cx="14447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62751"/>
                </a:solidFill>
                <a:latin typeface="Aptos"/>
              </a:rPr>
              <a:t>Retrabalho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315968"/>
            <a:ext cx="149961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 i="0">
                <a:solidFill>
                  <a:srgbClr val="475467"/>
                </a:solidFill>
                <a:latin typeface="Aptos"/>
              </a:rPr>
              <a:t>O mesmo dado era digitado e conferido em múltiplos pontos.</a:t>
            </a:r>
          </a:p>
        </p:txBody>
      </p:sp>
      <p:sp>
        <p:nvSpPr>
          <p:cNvPr id="38" name="Oval 37"/>
          <p:cNvSpPr/>
          <p:nvPr/>
        </p:nvSpPr>
        <p:spPr>
          <a:xfrm>
            <a:off x="2971799" y="3986784"/>
            <a:ext cx="310896" cy="310896"/>
          </a:xfrm>
          <a:prstGeom prst="ellipse">
            <a:avLst/>
          </a:prstGeom>
          <a:solidFill>
            <a:srgbClr val="FCECEB"/>
          </a:solidFill>
          <a:ln w="12700">
            <a:solidFill>
              <a:srgbClr val="B0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799" y="4069080"/>
            <a:ext cx="310896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04444"/>
                </a:solidFill>
                <a:latin typeface="Aptos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79" y="3950208"/>
            <a:ext cx="14447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62751"/>
                </a:solidFill>
                <a:latin typeface="Aptos"/>
              </a:rPr>
              <a:t>Tempo de ciclo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79" y="4315968"/>
            <a:ext cx="149961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 i="0">
                <a:solidFill>
                  <a:srgbClr val="475467"/>
                </a:solidFill>
                <a:latin typeface="Aptos"/>
              </a:rPr>
              <a:t>Pedidos, validação, emissão e retorno dependiam de passagem manual.</a:t>
            </a:r>
          </a:p>
        </p:txBody>
      </p:sp>
      <p:sp>
        <p:nvSpPr>
          <p:cNvPr id="42" name="Oval 41"/>
          <p:cNvSpPr/>
          <p:nvPr/>
        </p:nvSpPr>
        <p:spPr>
          <a:xfrm>
            <a:off x="5239512" y="3986784"/>
            <a:ext cx="310896" cy="310896"/>
          </a:xfrm>
          <a:prstGeom prst="ellipse">
            <a:avLst/>
          </a:prstGeom>
          <a:solidFill>
            <a:srgbClr val="FCECEB"/>
          </a:solidFill>
          <a:ln w="12700">
            <a:solidFill>
              <a:srgbClr val="B0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9512" y="4069080"/>
            <a:ext cx="310896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04444"/>
                </a:solidFill>
                <a:latin typeface="Aptos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0992" y="3950208"/>
            <a:ext cx="14447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62751"/>
                </a:solidFill>
                <a:latin typeface="Aptos"/>
              </a:rPr>
              <a:t>Risco fiscal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0992" y="4315968"/>
            <a:ext cx="149961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 i="0">
                <a:solidFill>
                  <a:srgbClr val="475467"/>
                </a:solidFill>
                <a:latin typeface="Aptos"/>
              </a:rPr>
              <a:t>Falhas de cadastro, duplicidade e baixa rastreabilidade da emissão.</a:t>
            </a:r>
          </a:p>
        </p:txBody>
      </p:sp>
      <p:sp>
        <p:nvSpPr>
          <p:cNvPr id="46" name="Oval 45"/>
          <p:cNvSpPr/>
          <p:nvPr/>
        </p:nvSpPr>
        <p:spPr>
          <a:xfrm>
            <a:off x="7507223" y="3986784"/>
            <a:ext cx="310896" cy="310896"/>
          </a:xfrm>
          <a:prstGeom prst="ellipse">
            <a:avLst/>
          </a:prstGeom>
          <a:solidFill>
            <a:srgbClr val="FCECEB"/>
          </a:solidFill>
          <a:ln w="12700">
            <a:solidFill>
              <a:srgbClr val="B0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07223" y="4069080"/>
            <a:ext cx="310896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04444"/>
                </a:solidFill>
                <a:latin typeface="Aptos"/>
              </a:rP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18704" y="3950208"/>
            <a:ext cx="14447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62751"/>
                </a:solidFill>
                <a:latin typeface="Aptos"/>
              </a:rPr>
              <a:t>Receita invisível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18704" y="4315968"/>
            <a:ext cx="149961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 i="0">
                <a:solidFill>
                  <a:srgbClr val="475467"/>
                </a:solidFill>
                <a:latin typeface="Aptos"/>
              </a:rPr>
              <a:t>Produção, NFS-e, recebimento e glosa não fechavam a mesma conta.</a:t>
            </a:r>
          </a:p>
        </p:txBody>
      </p:sp>
      <p:sp>
        <p:nvSpPr>
          <p:cNvPr id="50" name="Oval 49"/>
          <p:cNvSpPr/>
          <p:nvPr/>
        </p:nvSpPr>
        <p:spPr>
          <a:xfrm>
            <a:off x="9774936" y="3986784"/>
            <a:ext cx="310896" cy="310896"/>
          </a:xfrm>
          <a:prstGeom prst="ellipse">
            <a:avLst/>
          </a:prstGeom>
          <a:solidFill>
            <a:srgbClr val="FCECEB"/>
          </a:solidFill>
          <a:ln w="12700">
            <a:solidFill>
              <a:srgbClr val="B0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4936" y="4069080"/>
            <a:ext cx="310896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04444"/>
                </a:solidFill>
                <a:latin typeface="Aptos"/>
              </a:rPr>
              <a:t>!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86416" y="3950208"/>
            <a:ext cx="14447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62751"/>
                </a:solidFill>
                <a:latin typeface="Aptos"/>
              </a:rPr>
              <a:t>Gestão reativa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6416" y="4315968"/>
            <a:ext cx="149961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 i="0">
                <a:solidFill>
                  <a:srgbClr val="475467"/>
                </a:solidFill>
                <a:latin typeface="Aptos"/>
              </a:rPr>
              <a:t>Sem visão integrada de prazo, causa, responsável e recuperação.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65376" y="5641848"/>
            <a:ext cx="8458200" cy="484632"/>
          </a:xfrm>
          <a:prstGeom prst="roundRect">
            <a:avLst/>
          </a:prstGeom>
          <a:solidFill>
            <a:srgbClr val="FC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03120" y="5797296"/>
            <a:ext cx="79735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B04444"/>
                </a:solidFill>
                <a:latin typeface="Aptos"/>
              </a:rPr>
              <a:t>O impacto não era apenas produtividade: era atraso de caixa, perda de evidência e risco de receita.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Fonte: processo anterior descrito pelo solicitante.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Receita Certa: uma camada de integração e controle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627632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RECEPÇÕES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391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ptos"/>
              </a:rPr>
              <a:t>Clínicas e emergência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64208" y="2359152"/>
            <a:ext cx="0" cy="182880"/>
          </a:xfrm>
          <a:prstGeom prst="line">
            <a:avLst/>
          </a:prstGeom>
          <a:ln w="15240">
            <a:solidFill>
              <a:srgbClr val="1F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1600200" y="2505456"/>
            <a:ext cx="128016" cy="128016"/>
          </a:xfrm>
          <a:prstGeom prst="triangl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9504" y="1627632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8105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FINANCEIRO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0391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ptos"/>
              </a:rPr>
              <a:t>Valida, emite e concilia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359152"/>
            <a:ext cx="0" cy="182880"/>
          </a:xfrm>
          <a:prstGeom prst="line">
            <a:avLst/>
          </a:prstGeom>
          <a:ln w="15240">
            <a:solidFill>
              <a:srgbClr val="1F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3776472" y="2505456"/>
            <a:ext cx="128016" cy="128016"/>
          </a:xfrm>
          <a:prstGeom prst="triangl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65776" y="1627632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8105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GLOSAS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0391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ptos"/>
              </a:rPr>
              <a:t>Trata, recorre e acompanha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16752" y="2359152"/>
            <a:ext cx="0" cy="182880"/>
          </a:xfrm>
          <a:prstGeom prst="line">
            <a:avLst/>
          </a:prstGeom>
          <a:ln w="15240">
            <a:solidFill>
              <a:srgbClr val="1F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5952744" y="2505456"/>
            <a:ext cx="128016" cy="128016"/>
          </a:xfrm>
          <a:prstGeom prst="triangl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42048" y="1627632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18105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GESTÃO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2039112"/>
            <a:ext cx="1682496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ptos"/>
              </a:rPr>
              <a:t>Decide por indicadores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3024" y="2359152"/>
            <a:ext cx="0" cy="182880"/>
          </a:xfrm>
          <a:prstGeom prst="line">
            <a:avLst/>
          </a:prstGeom>
          <a:ln w="15240">
            <a:solidFill>
              <a:srgbClr val="1F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8129016" y="2505456"/>
            <a:ext cx="128016" cy="128016"/>
          </a:xfrm>
          <a:prstGeom prst="triangl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" y="2679192"/>
            <a:ext cx="8449056" cy="1234440"/>
          </a:xfrm>
          <a:prstGeom prst="round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2907792"/>
            <a:ext cx="23957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FB6C7"/>
                </a:solidFill>
                <a:latin typeface="Aptos"/>
              </a:rPr>
              <a:t>EXPERIÊNCIA E ORQUESTRAÇÃO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236976"/>
            <a:ext cx="2395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prj_glosas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3054096"/>
            <a:ext cx="5458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8D7E7"/>
                </a:solidFill>
                <a:latin typeface="Aptos"/>
              </a:rPr>
              <a:t>Interface web • fluxos por perfil • indicadores • acompanhamento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1627632"/>
            <a:ext cx="2029968" cy="2286000"/>
          </a:xfrm>
          <a:prstGeom prst="roundRect">
            <a:avLst/>
          </a:prstGeom>
          <a:solidFill>
            <a:srgbClr val="E7F4F8"/>
          </a:solidFill>
          <a:ln w="12700">
            <a:solidFill>
              <a:srgbClr val="CF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1874519"/>
            <a:ext cx="151790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F6F86"/>
                </a:solidFill>
                <a:latin typeface="Aptos"/>
              </a:rPr>
              <a:t>GESTÃO DO CICLO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267712"/>
            <a:ext cx="1517904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Produção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→ Fiscal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→ Caixa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→ Glosa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 i="0">
                <a:solidFill>
                  <a:srgbClr val="062751"/>
                </a:solidFill>
                <a:latin typeface="Aptos"/>
              </a:rPr>
              <a:t>→ Recuperação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37760" y="3931920"/>
            <a:ext cx="0" cy="201168"/>
          </a:xfrm>
          <a:prstGeom prst="line">
            <a:avLst/>
          </a:prstGeom>
          <a:ln w="19050">
            <a:solidFill>
              <a:srgbClr val="1F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4873752" y="4096512"/>
            <a:ext cx="128016" cy="128016"/>
          </a:xfrm>
          <a:prstGeom prst="triangl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3232" y="4270248"/>
            <a:ext cx="844905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507992"/>
            <a:ext cx="21214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88521"/>
                </a:solidFill>
                <a:latin typeface="Aptos"/>
              </a:rPr>
              <a:t>INTEGRAÇÃO E REGRAS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4453128"/>
            <a:ext cx="23042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62751"/>
                </a:solidFill>
                <a:latin typeface="Aptos"/>
              </a:rPr>
              <a:t>api_prontocardio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489704"/>
            <a:ext cx="3886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475467"/>
                </a:solidFill>
                <a:latin typeface="Aptos"/>
              </a:rPr>
              <a:t>Dados • autenticação • conciliação • auditoria • workflow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856232" y="5111496"/>
            <a:ext cx="0" cy="155448"/>
          </a:xfrm>
          <a:prstGeom prst="line">
            <a:avLst/>
          </a:prstGeom>
          <a:ln w="15240">
            <a:solidFill>
              <a:srgbClr val="0627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10800000">
            <a:off x="1792224" y="5230368"/>
            <a:ext cx="128016" cy="128016"/>
          </a:xfrm>
          <a:prstGeom prst="triangle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3232" y="5394960"/>
            <a:ext cx="22860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5596128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062751"/>
                </a:solidFill>
                <a:latin typeface="Aptos"/>
              </a:rPr>
              <a:t>MV / ORACLE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5843016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Aptos"/>
              </a:rPr>
              <a:t>Produção hospitalar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53712" y="5111496"/>
            <a:ext cx="0" cy="155448"/>
          </a:xfrm>
          <a:prstGeom prst="line">
            <a:avLst/>
          </a:prstGeom>
          <a:ln w="15240">
            <a:solidFill>
              <a:srgbClr val="1F6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10800000">
            <a:off x="4489704" y="5230368"/>
            <a:ext cx="128016" cy="128016"/>
          </a:xfrm>
          <a:prstGeom prst="triangl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10712" y="5394960"/>
            <a:ext cx="22860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5596128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1F6F86"/>
                </a:solidFill>
                <a:latin typeface="Aptos"/>
              </a:rPr>
              <a:t>POSTGRESQL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5843016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Aptos"/>
              </a:rPr>
              <a:t>Estado e auditoria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251192" y="5111496"/>
            <a:ext cx="0" cy="155448"/>
          </a:xfrm>
          <a:prstGeom prst="line">
            <a:avLst/>
          </a:prstGeom>
          <a:ln w="15240">
            <a:solidFill>
              <a:srgbClr val="C885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10800000">
            <a:off x="7187184" y="5230368"/>
            <a:ext cx="128016" cy="128016"/>
          </a:xfrm>
          <a:prstGeom prst="triangl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08192" y="5394960"/>
            <a:ext cx="22860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5352" y="5596128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C88521"/>
                </a:solidFill>
                <a:latin typeface="Aptos"/>
              </a:rPr>
              <a:t>AIRFLOW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5843016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Aptos"/>
              </a:rPr>
              <a:t>prj_web_nfs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948672" y="5111496"/>
            <a:ext cx="0" cy="155448"/>
          </a:xfrm>
          <a:prstGeom prst="line">
            <a:avLst/>
          </a:prstGeom>
          <a:ln w="15240">
            <a:solidFill>
              <a:srgbClr val="2271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10800000">
            <a:off x="9884664" y="5230368"/>
            <a:ext cx="128016" cy="128016"/>
          </a:xfrm>
          <a:prstGeom prst="triangle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805672" y="5394960"/>
            <a:ext cx="22860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42832" y="5596128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227153"/>
                </a:solidFill>
                <a:latin typeface="Aptos"/>
              </a:rPr>
              <a:t>ISS FORTALEZA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5843016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Aptos"/>
              </a:rPr>
              <a:t>Emissão / XML / PDF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Fonte: arquitetura observada em prj_glosas, api_prontocardio e prj_web_nfs.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Quatro capacidades que mudam a operação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2852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1828800"/>
            <a:ext cx="548640" cy="548640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5486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828800"/>
            <a:ext cx="3977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62751"/>
                </a:solidFill>
                <a:latin typeface="Aptos"/>
              </a:rPr>
              <a:t>Faturamento e conciliação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322576"/>
            <a:ext cx="3977639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Produção hospitalar × NFS-e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Remessas × notas fiscais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Previsão e registro de recebimento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Extrato bancário, impostos e retenções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Consulta e edição auditável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72768"/>
            <a:ext cx="52852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3952" y="1828800"/>
            <a:ext cx="548640" cy="548640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93392"/>
            <a:ext cx="5486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1828800"/>
            <a:ext cx="3977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62751"/>
                </a:solidFill>
                <a:latin typeface="Aptos"/>
              </a:rPr>
              <a:t>Gestão de glosas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322576"/>
            <a:ext cx="3977639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Triagem e follow-up por remessa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Recurso, acato e recebimento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Motivos padronizados pela TISS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Prazo por convênio e aging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Visão Kanban e tabela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13632"/>
            <a:ext cx="52852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6968" y="4169664"/>
            <a:ext cx="548640" cy="548640"/>
          </a:xfrm>
          <a:prstGeom prst="ellipse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334256"/>
            <a:ext cx="5486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4169664"/>
            <a:ext cx="3977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62751"/>
                </a:solidFill>
                <a:latin typeface="Aptos"/>
              </a:rPr>
              <a:t>Inteligência gerencial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4663440"/>
            <a:ext cx="3977639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Funil financeiro por convênio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Pareto dos motivos de glosa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Eficiência de recuperação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Evolução mensal e SLA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Filtros por período, prestador e atendimento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913632"/>
            <a:ext cx="52852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4169664"/>
            <a:ext cx="548640" cy="548640"/>
          </a:xfrm>
          <a:prstGeom prst="ellipse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334256"/>
            <a:ext cx="5486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4169664"/>
            <a:ext cx="397763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62751"/>
                </a:solidFill>
                <a:latin typeface="Aptos"/>
              </a:rPr>
              <a:t>Automação fiscal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663440"/>
            <a:ext cx="3977639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Pedido digital pelas recepções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Validação pelo contas a receber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Emissão individual ou em lote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Número, protocolo e PDF na aplicação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0" b="0" i="0">
                <a:solidFill>
                  <a:srgbClr val="475467"/>
                </a:solidFill>
                <a:latin typeface="Aptos"/>
              </a:rPr>
              <a:t>• Erro visível, corrigível e reprocessável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Fonte: telas, rotas, modelos e regras de negócio observados nos três repositórios.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AUTOMAÇÃO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NFS-e: resposta rápida a um ponto crítico do 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999232" cy="4553712"/>
          </a:xfrm>
          <a:prstGeom prst="roundRect">
            <a:avLst/>
          </a:prstGeom>
          <a:solidFill>
            <a:srgbClr val="FCECEB"/>
          </a:solidFill>
          <a:ln w="12700">
            <a:solidFill>
              <a:srgbClr val="F1D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874519"/>
            <a:ext cx="1792224" cy="283464"/>
          </a:xfrm>
          <a:prstGeom prst="roundRect">
            <a:avLst/>
          </a:prstGeom>
          <a:solidFill>
            <a:srgbClr val="F7D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943100"/>
            <a:ext cx="16459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B04444"/>
                </a:solidFill>
                <a:latin typeface="Aptos"/>
              </a:rPr>
              <a:t>SITUAÇÃO DE RUPTURA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350008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62751"/>
                </a:solidFill>
                <a:latin typeface="Aptos"/>
              </a:rPr>
              <a:t>A rotina de emissão pelo ERP deixou de atender a operação.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502152"/>
            <a:ext cx="2350008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75467"/>
                </a:solidFill>
                <a:latin typeface="Aptos"/>
              </a:rPr>
              <a:t>O contingenciamento passou a depender de pedido por e-mail ou planilha e emissão manual no portal da Prefeitura.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4736592"/>
            <a:ext cx="2350008" cy="8595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4937760"/>
            <a:ext cx="19842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04444"/>
                </a:solidFill>
                <a:latin typeface="Aptos"/>
              </a:rPr>
              <a:t>Risco imediato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5184648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62751"/>
                </a:solidFill>
                <a:latin typeface="Aptos"/>
              </a:rPr>
              <a:t>Atraso, retrabalho e dependência operacional.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1627632"/>
            <a:ext cx="23591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6F86"/>
                </a:solidFill>
                <a:latin typeface="Aptos"/>
              </a:rPr>
              <a:t>Fluxo implantado</a:t>
            </a:r>
          </a:p>
        </p:txBody>
      </p:sp>
      <p:sp>
        <p:nvSpPr>
          <p:cNvPr id="14" name="Oval 13"/>
          <p:cNvSpPr/>
          <p:nvPr/>
        </p:nvSpPr>
        <p:spPr>
          <a:xfrm>
            <a:off x="4096512" y="2103120"/>
            <a:ext cx="384048" cy="384048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2199132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093976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Solicitação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386584"/>
            <a:ext cx="28163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Clínicas e emergência registram o pedido.</a:t>
            </a:r>
          </a:p>
        </p:txBody>
      </p:sp>
      <p:sp>
        <p:nvSpPr>
          <p:cNvPr id="18" name="Oval 17"/>
          <p:cNvSpPr/>
          <p:nvPr/>
        </p:nvSpPr>
        <p:spPr>
          <a:xfrm>
            <a:off x="4096512" y="3172968"/>
            <a:ext cx="384048" cy="384048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2" y="3268979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63824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Validação financeira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456432"/>
            <a:ext cx="28163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Dados, valor e emissor são conferidos.</a:t>
            </a:r>
          </a:p>
        </p:txBody>
      </p:sp>
      <p:sp>
        <p:nvSpPr>
          <p:cNvPr id="22" name="Oval 21"/>
          <p:cNvSpPr/>
          <p:nvPr/>
        </p:nvSpPr>
        <p:spPr>
          <a:xfrm>
            <a:off x="4096512" y="4242816"/>
            <a:ext cx="384048" cy="384048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4338828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233672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Seleção do lote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526279"/>
            <a:ext cx="28163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Itens aprovados seguem para processamento.</a:t>
            </a:r>
          </a:p>
        </p:txBody>
      </p:sp>
      <p:sp>
        <p:nvSpPr>
          <p:cNvPr id="26" name="Oval 25"/>
          <p:cNvSpPr/>
          <p:nvPr/>
        </p:nvSpPr>
        <p:spPr>
          <a:xfrm>
            <a:off x="7799832" y="2103120"/>
            <a:ext cx="384048" cy="384048"/>
          </a:xfrm>
          <a:prstGeom prst="ellipse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832" y="2199132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093976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Robô fiscal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386584"/>
            <a:ext cx="28163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Portal da Prefeitura é preenchido e validado.</a:t>
            </a:r>
          </a:p>
        </p:txBody>
      </p:sp>
      <p:sp>
        <p:nvSpPr>
          <p:cNvPr id="30" name="Oval 29"/>
          <p:cNvSpPr/>
          <p:nvPr/>
        </p:nvSpPr>
        <p:spPr>
          <a:xfrm>
            <a:off x="7799832" y="3172968"/>
            <a:ext cx="384048" cy="384048"/>
          </a:xfrm>
          <a:prstGeom prst="ellipse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9832" y="3268979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3163824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Retorno automático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456432"/>
            <a:ext cx="28163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Número, protocolo e PDF voltam à aplicação.</a:t>
            </a:r>
          </a:p>
        </p:txBody>
      </p:sp>
      <p:sp>
        <p:nvSpPr>
          <p:cNvPr id="34" name="Oval 33"/>
          <p:cNvSpPr/>
          <p:nvPr/>
        </p:nvSpPr>
        <p:spPr>
          <a:xfrm>
            <a:off x="7799832" y="4242816"/>
            <a:ext cx="384048" cy="384048"/>
          </a:xfrm>
          <a:prstGeom prst="ellipse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9832" y="4338828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4233672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Gestão por exceção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4526279"/>
            <a:ext cx="28163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Erros ficam visíveis para correção e nova tentativa.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87368" y="5422392"/>
            <a:ext cx="7434072" cy="676656"/>
          </a:xfrm>
          <a:prstGeom prst="round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5632704"/>
            <a:ext cx="68762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Pessoas validam e decidem. O robô executa a repetição e devolve a evidência.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Fonte: contexto informado; workflow, estados, anti-duplicidade e integração ISS observados no código.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INTELIGÊNCIA GERENCIAL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Indicadores que conectam operação e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66420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664208" cy="50292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19656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62751"/>
                </a:solidFill>
                <a:latin typeface="Aptos"/>
              </a:rPr>
              <a:t>R$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21408"/>
            <a:ext cx="1371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 i="0">
                <a:solidFill>
                  <a:srgbClr val="1F6F86"/>
                </a:solidFill>
                <a:latin typeface="Aptos"/>
              </a:rPr>
              <a:t>TOTAL GLOSADO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572768"/>
            <a:ext cx="166420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87168" y="1572768"/>
            <a:ext cx="1664208" cy="50292"/>
          </a:xfrm>
          <a:prstGeom prst="rect">
            <a:avLst/>
          </a:prstGeom>
          <a:solidFill>
            <a:srgbClr val="B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819656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62751"/>
                </a:solidFill>
                <a:latin typeface="Aptos"/>
              </a:rPr>
              <a:t>R$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121408"/>
            <a:ext cx="1371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 i="0">
                <a:solidFill>
                  <a:srgbClr val="B04444"/>
                </a:solidFill>
                <a:latin typeface="Aptos"/>
              </a:rPr>
              <a:t>NÃO TRATADAS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572768"/>
            <a:ext cx="166420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572768"/>
            <a:ext cx="1664208" cy="50292"/>
          </a:xfrm>
          <a:prstGeom prst="rect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19656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62751"/>
                </a:solidFill>
                <a:latin typeface="Aptos"/>
              </a:rPr>
              <a:t>R$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121408"/>
            <a:ext cx="1371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 i="0">
                <a:solidFill>
                  <a:srgbClr val="C88521"/>
                </a:solidFill>
                <a:latin typeface="Aptos"/>
              </a:rPr>
              <a:t>RECURSADAS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572768"/>
            <a:ext cx="166420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572768"/>
            <a:ext cx="1664208" cy="50292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819656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62751"/>
                </a:solidFill>
                <a:latin typeface="Aptos"/>
              </a:rPr>
              <a:t>R$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121408"/>
            <a:ext cx="1371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 i="0">
                <a:solidFill>
                  <a:srgbClr val="667085"/>
                </a:solidFill>
                <a:latin typeface="Aptos"/>
              </a:rPr>
              <a:t>ACATADAS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1572768"/>
            <a:ext cx="166420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73568" y="1572768"/>
            <a:ext cx="1664208" cy="50292"/>
          </a:xfrm>
          <a:prstGeom prst="rect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1819656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62751"/>
                </a:solidFill>
                <a:latin typeface="Aptos"/>
              </a:rPr>
              <a:t>R$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2121408"/>
            <a:ext cx="1371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 i="0">
                <a:solidFill>
                  <a:srgbClr val="227153"/>
                </a:solidFill>
                <a:latin typeface="Aptos"/>
              </a:rPr>
              <a:t>RECUPERADAS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1572768"/>
            <a:ext cx="166420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02368" y="1572768"/>
            <a:ext cx="1664208" cy="50292"/>
          </a:xfrm>
          <a:prstGeom prst="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1819656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62751"/>
                </a:solidFill>
                <a:latin typeface="Aptos"/>
              </a:rPr>
              <a:t>R$ 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121408"/>
            <a:ext cx="137160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 i="0">
                <a:solidFill>
                  <a:srgbClr val="062751"/>
                </a:solidFill>
                <a:latin typeface="Aptos"/>
              </a:rPr>
              <a:t>RECURSOS EM ABERTO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2633472"/>
            <a:ext cx="667512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2898648"/>
            <a:ext cx="303580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62751"/>
                </a:solidFill>
                <a:latin typeface="Aptos"/>
              </a:rPr>
              <a:t>Funil financeiro por convênio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" y="3383280"/>
            <a:ext cx="5358384" cy="274320"/>
          </a:xfrm>
          <a:prstGeom prst="round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3451860"/>
            <a:ext cx="535838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Faturado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72184" y="3776472"/>
            <a:ext cx="4352544" cy="274320"/>
          </a:xfrm>
          <a:prstGeom prst="roundRect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72184" y="3845052"/>
            <a:ext cx="43525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Glosado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9384" y="4169664"/>
            <a:ext cx="3438144" cy="274320"/>
          </a:xfrm>
          <a:prstGeom prst="round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29384" y="4238244"/>
            <a:ext cx="34381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Recursado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32304" y="4562856"/>
            <a:ext cx="2432304" cy="274320"/>
          </a:xfrm>
          <a:prstGeom prst="roundRect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2304" y="4631436"/>
            <a:ext cx="243230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Recuperado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62072" y="4956048"/>
            <a:ext cx="1572768" cy="274320"/>
          </a:xfrm>
          <a:prstGeom prst="roundRect">
            <a:avLst/>
          </a:prstGeom>
          <a:solidFill>
            <a:srgbClr val="B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62072" y="5024628"/>
            <a:ext cx="157276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Perda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5321808"/>
            <a:ext cx="6016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ptos"/>
              </a:rPr>
              <a:t>Conversão entre etapas evidencia onde a receita se perde e onde a atuação retorna caixa.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07808" y="2633472"/>
            <a:ext cx="393192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82127" y="2898648"/>
            <a:ext cx="33832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62751"/>
                </a:solidFill>
                <a:latin typeface="Aptos"/>
              </a:rPr>
              <a:t>Eficiência por motivo de glosa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3383280"/>
            <a:ext cx="1508760" cy="832104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73768" y="3383280"/>
            <a:ext cx="1508760" cy="832104"/>
          </a:xfrm>
          <a:prstGeom prst="rect">
            <a:avLst/>
          </a:prstGeom>
          <a:solidFill>
            <a:srgbClr val="D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65008" y="4215384"/>
            <a:ext cx="1508760" cy="832104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73768" y="4215384"/>
            <a:ext cx="1508760" cy="832104"/>
          </a:xfrm>
          <a:prstGeom prst="rect">
            <a:avLst/>
          </a:prstGeom>
          <a:solidFill>
            <a:srgbClr val="FC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9573768" y="3383280"/>
            <a:ext cx="0" cy="1664208"/>
          </a:xfrm>
          <a:prstGeom prst="line">
            <a:avLst/>
          </a:prstGeom>
          <a:ln w="1905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065008" y="4215384"/>
            <a:ext cx="3017520" cy="0"/>
          </a:xfrm>
          <a:prstGeom prst="line">
            <a:avLst/>
          </a:prstGeom>
          <a:ln w="1905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174736" y="3493008"/>
            <a:ext cx="126187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227153"/>
                </a:solidFill>
                <a:latin typeface="Aptos"/>
              </a:rPr>
              <a:t>Baixa prioridade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493008"/>
            <a:ext cx="126187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227153"/>
                </a:solidFill>
                <a:latin typeface="Aptos"/>
              </a:rPr>
              <a:t>Excelente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74736" y="4325112"/>
            <a:ext cx="126187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667085"/>
                </a:solidFill>
                <a:latin typeface="Aptos"/>
              </a:rPr>
              <a:t>Pouco relevante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4325112"/>
            <a:ext cx="126187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 i="0">
                <a:solidFill>
                  <a:srgbClr val="B04444"/>
                </a:solidFill>
                <a:latin typeface="Aptos"/>
              </a:rPr>
              <a:t>Prioridade máxima</a:t>
            </a:r>
          </a:p>
        </p:txBody>
      </p:sp>
      <p:sp>
        <p:nvSpPr>
          <p:cNvPr id="54" name="Oval 53"/>
          <p:cNvSpPr/>
          <p:nvPr/>
        </p:nvSpPr>
        <p:spPr>
          <a:xfrm>
            <a:off x="8613648" y="3904487"/>
            <a:ext cx="201168" cy="201168"/>
          </a:xfrm>
          <a:prstGeom prst="ellipse">
            <a:avLst/>
          </a:prstGeom>
          <a:solidFill>
            <a:srgbClr val="C8852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66960" y="3694176"/>
            <a:ext cx="329184" cy="329184"/>
          </a:xfrm>
          <a:prstGeom prst="ellipse">
            <a:avLst/>
          </a:prstGeom>
          <a:solidFill>
            <a:srgbClr val="22715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13848" y="4498848"/>
            <a:ext cx="438912" cy="438912"/>
          </a:xfrm>
          <a:prstGeom prst="ellipse">
            <a:avLst/>
          </a:prstGeom>
          <a:solidFill>
            <a:srgbClr val="B0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814816" y="4645152"/>
            <a:ext cx="155448" cy="15544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82127" y="5321808"/>
            <a:ext cx="33832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ptos"/>
              </a:rPr>
              <a:t>Filtros: período • tipo • convênio • prestador • atendimento • motivo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267712" y="5852160"/>
            <a:ext cx="7662672" cy="384048"/>
          </a:xfrm>
          <a:prstGeom prst="roundRect">
            <a:avLst/>
          </a:prstGeom>
          <a:solidFill>
            <a:srgbClr val="E7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68880" y="5971032"/>
            <a:ext cx="7260336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64F63"/>
                </a:solidFill>
                <a:latin typeface="Aptos"/>
              </a:rPr>
              <a:t>A gestão deixa de perguntar “quanto perdemos?” e passa a decidir “onde agir primeiro?”.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Visual conceitual baseado nos indicadores implementados; valores dependem do período e filtros selecionados.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COMPARATIVO ECONÔMICO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ZeroGlosa: o que os dados realmente demonstram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bertura_zero_glo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609344"/>
            <a:ext cx="3310128" cy="3310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7048" y="2578608"/>
            <a:ext cx="181051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62751"/>
                </a:solidFill>
                <a:latin typeface="Aptos"/>
              </a:rPr>
              <a:t>15,4%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3054096"/>
            <a:ext cx="181051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ptos"/>
              </a:rPr>
              <a:t>da receita avaliada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ptos"/>
              </a:rPr>
              <a:t>coberta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4809744"/>
            <a:ext cx="151790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F6F86"/>
                </a:solidFill>
                <a:latin typeface="Aptos"/>
              </a:rPr>
              <a:t>R$ 13,44 mi cobertos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304" y="4809744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C88521"/>
                </a:solidFill>
                <a:latin typeface="Aptos"/>
              </a:rPr>
              <a:t>R$ 74,00 mi fora do escopo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64208"/>
            <a:ext cx="31821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64208"/>
            <a:ext cx="3182112" cy="50292"/>
          </a:xfrm>
          <a:prstGeom prst="rect">
            <a:avLst/>
          </a:prstGeom>
          <a:solidFill>
            <a:srgbClr val="B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65376"/>
            <a:ext cx="2816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62751"/>
                </a:solidFill>
                <a:latin typeface="Aptos"/>
              </a:rPr>
              <a:t>R$ 104,4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custo bruto acumulado em 17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664208"/>
            <a:ext cx="31821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664208"/>
            <a:ext cx="3182112" cy="50292"/>
          </a:xfrm>
          <a:prstGeom prst="rect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865376"/>
            <a:ext cx="2816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62751"/>
                </a:solidFill>
                <a:latin typeface="Aptos"/>
              </a:rPr>
              <a:t>12,9%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31720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das contas em remessa cobertas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944368"/>
            <a:ext cx="31821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944368"/>
            <a:ext cx="3182112" cy="50292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145536"/>
            <a:ext cx="2816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62751"/>
                </a:solidFill>
                <a:latin typeface="Aptos"/>
              </a:rPr>
              <a:t>R$ 6,14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11880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custo médio mensal histórico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944368"/>
            <a:ext cx="31821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2944368"/>
            <a:ext cx="3182112" cy="50292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145536"/>
            <a:ext cx="2816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62751"/>
                </a:solidFill>
                <a:latin typeface="Aptos"/>
              </a:rPr>
              <a:t>R$ 5,83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11880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custo por conta coberta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24528"/>
            <a:ext cx="31821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224528"/>
            <a:ext cx="3182112" cy="50292"/>
          </a:xfrm>
          <a:prstGeom prst="rect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425696"/>
            <a:ext cx="2816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62751"/>
                </a:solidFill>
                <a:latin typeface="Aptos"/>
              </a:rPr>
              <a:t>0,78%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92040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break-even sobre a receita coberta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4224528"/>
            <a:ext cx="31821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4224528"/>
            <a:ext cx="3182112" cy="50292"/>
          </a:xfrm>
          <a:prstGeom prst="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425696"/>
            <a:ext cx="281635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62751"/>
                </a:solidFill>
                <a:latin typeface="Aptos"/>
              </a:rPr>
              <a:t>R$ 74,0 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92040"/>
            <a:ext cx="28163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faturamento fora do escopo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5522976"/>
            <a:ext cx="6702552" cy="548640"/>
          </a:xfrm>
          <a:prstGeom prst="roundRect">
            <a:avLst/>
          </a:prstGeom>
          <a:solidFill>
            <a:srgbClr val="FC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5614416"/>
            <a:ext cx="61813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B04444"/>
                </a:solidFill>
                <a:latin typeface="Aptos"/>
              </a:rPr>
              <a:t>Ponto central: não havia histórico integrado para atribuir ao fornecedor recursos e valores efetivamente recuperados.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Fonte: apresentação_custo_beneficio_zero_glosa.pdf — dados internos atualizados em 23/06/2026. Cálculos derivados: custo/17 meses e custo/17.893 contas.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RECEITA CERTA × ZEROGLOSA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A comparação correta é de modelo operacional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2286000" cy="512064"/>
          </a:xfrm>
          <a:prstGeom prst="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46504"/>
            <a:ext cx="20116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CRITÉRIO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72768"/>
            <a:ext cx="3767328" cy="512064"/>
          </a:xfrm>
          <a:prstGeom prst="rect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7" y="1746504"/>
            <a:ext cx="349300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ZERO GLOSA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1696" y="1572768"/>
            <a:ext cx="4828032" cy="5120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8856" y="1746504"/>
            <a:ext cx="455371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RECEITA CERTA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2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44368" y="2084832"/>
            <a:ext cx="376732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11696" y="2084832"/>
            <a:ext cx="4828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286000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062751"/>
                </a:solidFill>
                <a:latin typeface="Aptos"/>
              </a:rPr>
              <a:t>Escopo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212848"/>
            <a:ext cx="3364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Atuação sobre uma parcela das glosas.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2212848"/>
            <a:ext cx="4425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Produção → fiscal → caixa → glosa → recuperação.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06624"/>
            <a:ext cx="22860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4368" y="2706624"/>
            <a:ext cx="3767328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11696" y="2706624"/>
            <a:ext cx="4828032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290779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062751"/>
                </a:solidFill>
                <a:latin typeface="Aptos"/>
              </a:rPr>
              <a:t>Cobertura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2834640"/>
            <a:ext cx="3364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15,4% da receita; 12,9% das contas.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2834640"/>
            <a:ext cx="4425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Multiconvênio; cobertura depende de dados e rollout.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328416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44368" y="3328416"/>
            <a:ext cx="376732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11696" y="3328416"/>
            <a:ext cx="4828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52958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062751"/>
                </a:solidFill>
                <a:latin typeface="Aptos"/>
              </a:rPr>
              <a:t>Evidência de retorno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3456432"/>
            <a:ext cx="3364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Recursos e recuperações não integrados ao histórico.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456432"/>
            <a:ext cx="4425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Recurso, acato, recebimento e sucesso no modelo de dados.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950208"/>
            <a:ext cx="22860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44368" y="3950208"/>
            <a:ext cx="3767328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11696" y="3950208"/>
            <a:ext cx="4828032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151376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062751"/>
                </a:solidFill>
                <a:latin typeface="Aptos"/>
              </a:rPr>
              <a:t>Automação operacional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078224"/>
            <a:ext cx="3364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NFS-e não avaliada no estudo.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2864" y="4078224"/>
            <a:ext cx="4425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Pedido → validação → emissão → PDF → nova tentativa.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572000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44368" y="4572000"/>
            <a:ext cx="376732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11696" y="4572000"/>
            <a:ext cx="48280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4773168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062751"/>
                </a:solidFill>
                <a:latin typeface="Aptos"/>
              </a:rPr>
              <a:t>Governança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5536" y="4700016"/>
            <a:ext cx="3364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Dependência do escopo e de evidência externa.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2864" y="4700016"/>
            <a:ext cx="4425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Dados institucionais, permissões, auditoria e estados.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193792"/>
            <a:ext cx="228600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44368" y="5193792"/>
            <a:ext cx="3767328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11696" y="5193792"/>
            <a:ext cx="4828032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5394960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9" b="1" i="0">
                <a:solidFill>
                  <a:srgbClr val="062751"/>
                </a:solidFill>
                <a:latin typeface="Aptos"/>
              </a:rPr>
              <a:t>Leitura econômica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45536" y="5321808"/>
            <a:ext cx="3364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R$ 104,4 mil / 17 meses; efetividade a demonstrar.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2864" y="5321808"/>
            <a:ext cx="4425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475467"/>
                </a:solidFill>
                <a:latin typeface="Aptos"/>
              </a:rPr>
              <a:t>TCO interno a medir para fechar ROI e contrato.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17320" y="6016752"/>
            <a:ext cx="9354312" cy="320040"/>
          </a:xfrm>
          <a:prstGeom prst="roundRect">
            <a:avLst/>
          </a:prstGeom>
          <a:solidFill>
            <a:srgbClr val="E7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00200" y="6080760"/>
            <a:ext cx="8988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64F63"/>
                </a:solidFill>
                <a:latin typeface="Aptos"/>
              </a:rPr>
              <a:t>A plataforma interna amplia o campo de gestão; a decisão financeira exige medir TCO, adoção e recuperação atribuível.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Comparação baseada no estudo interno da ZeroGlosa e nas capacidades observadas nos repositórios. Não presume cobertura integral nem economia já realizada.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POTENCIAL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A escala muda a lógica econômica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712463" cy="4553712"/>
          </a:xfrm>
          <a:prstGeom prst="roundRect">
            <a:avLst/>
          </a:prstGeom>
          <a:solidFill>
            <a:srgbClr val="062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1792224" cy="283464"/>
          </a:xfrm>
          <a:prstGeom prst="roundRect">
            <a:avLst/>
          </a:prstGeom>
          <a:solidFill>
            <a:srgbClr val="173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88820"/>
            <a:ext cx="16459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20" b="1" i="0">
                <a:solidFill>
                  <a:srgbClr val="5FB6C7"/>
                </a:solidFill>
                <a:latin typeface="Aptos"/>
              </a:rPr>
              <a:t>BASE FORA DO FORNECEDOR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3017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R$ 74,0 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63824"/>
            <a:ext cx="26700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8D7E7"/>
                </a:solidFill>
                <a:latin typeface="Aptos"/>
              </a:rPr>
              <a:t>de faturamento fora do escopo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8D7E7"/>
                </a:solidFill>
                <a:latin typeface="Aptos"/>
              </a:rPr>
              <a:t>no período avaliado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4096512"/>
            <a:ext cx="2944368" cy="0"/>
          </a:xfrm>
          <a:prstGeom prst="line">
            <a:avLst/>
          </a:prstGeom>
          <a:ln w="12700">
            <a:solidFill>
              <a:srgbClr val="456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4434840"/>
            <a:ext cx="13716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5FB6C7"/>
                </a:solidFill>
                <a:latin typeface="Aptos"/>
              </a:rPr>
              <a:t>0,14%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16552"/>
            <a:ext cx="1956816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Aptos"/>
              </a:rPr>
              <a:t>de recuperação ou perda evitada nessa base equivale aproximadamente ao custo bruto de R$ 104,4 mil do fornecedor.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755648"/>
            <a:ext cx="6144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62751"/>
                </a:solidFill>
                <a:latin typeface="Aptos"/>
              </a:rPr>
              <a:t>Cenários sobre a base histórica fora do escopo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487168"/>
            <a:ext cx="5669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6F86"/>
                </a:solidFill>
                <a:latin typeface="Aptos"/>
              </a:rPr>
              <a:t>0,1%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9552" y="2395728"/>
            <a:ext cx="4754880" cy="438912"/>
          </a:xfrm>
          <a:prstGeom prst="roundRect">
            <a:avLst/>
          </a:prstGeom>
          <a:solidFill>
            <a:srgbClr val="E9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9552" y="2395728"/>
            <a:ext cx="475488" cy="438912"/>
          </a:xfrm>
          <a:prstGeom prst="round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88168" y="2487168"/>
            <a:ext cx="841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62751"/>
                </a:solidFill>
                <a:latin typeface="Aptos"/>
              </a:rPr>
              <a:t>R$ 74 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474720"/>
            <a:ext cx="5669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88521"/>
                </a:solidFill>
                <a:latin typeface="Aptos"/>
              </a:rPr>
              <a:t>0,5%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9552" y="3383280"/>
            <a:ext cx="4754880" cy="438912"/>
          </a:xfrm>
          <a:prstGeom prst="roundRect">
            <a:avLst/>
          </a:prstGeom>
          <a:solidFill>
            <a:srgbClr val="E9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9552" y="3383280"/>
            <a:ext cx="2377440" cy="438912"/>
          </a:xfrm>
          <a:prstGeom prst="roundRect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88168" y="3474720"/>
            <a:ext cx="841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62751"/>
                </a:solidFill>
                <a:latin typeface="Aptos"/>
              </a:rPr>
              <a:t>R$ 370 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462272"/>
            <a:ext cx="5669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7153"/>
                </a:solidFill>
                <a:latin typeface="Aptos"/>
              </a:rPr>
              <a:t>1,0%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59552" y="4370832"/>
            <a:ext cx="4754880" cy="438912"/>
          </a:xfrm>
          <a:prstGeom prst="roundRect">
            <a:avLst/>
          </a:prstGeom>
          <a:solidFill>
            <a:srgbClr val="E9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59552" y="4370832"/>
            <a:ext cx="4754880" cy="438912"/>
          </a:xfrm>
          <a:prstGeom prst="roundRect">
            <a:avLst/>
          </a:prstGeom>
          <a:solidFill>
            <a:srgbClr val="22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88168" y="4462272"/>
            <a:ext cx="8412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62751"/>
                </a:solidFill>
                <a:latin typeface="Aptos"/>
              </a:rPr>
              <a:t>R$ 740 mil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73168" y="5349240"/>
            <a:ext cx="6565392" cy="658368"/>
          </a:xfrm>
          <a:prstGeom prst="roundRect">
            <a:avLst/>
          </a:prstGeom>
          <a:solidFill>
            <a:srgbClr val="FC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5541264"/>
            <a:ext cx="6016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04444"/>
                </a:solidFill>
                <a:latin typeface="Aptos"/>
              </a:rPr>
              <a:t>Cenários de sensibilidade — não representam benefício realizado.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553712"/>
            <a:ext cx="6565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475467"/>
                </a:solidFill>
                <a:latin typeface="Aptos"/>
              </a:rPr>
              <a:t>Além do caixa recuperado: tempo de ciclo, horas operacionais, erros fiscais e continuidade do processo.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Fonte: base de R$ 74,00 mi do estudo ZeroGlosa. Cálculos: 0,1%, 0,5%, 1,0% e R$ 104,4 mil ÷ R$ 74,0 mi = 0,141%.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6217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6F86"/>
                </a:solidFill>
                <a:latin typeface="Aptos"/>
              </a:rPr>
              <a:t>GOVERNANÇA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062751"/>
                </a:solidFill>
                <a:latin typeface="Aptos"/>
              </a:rPr>
              <a:t>Implantação com base técnica e agenda de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51572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F6F86"/>
                </a:solidFill>
                <a:latin typeface="Aptos"/>
              </a:rPr>
              <a:t>Evidências do produto construído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24323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94560"/>
            <a:ext cx="713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62751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212848"/>
            <a:ext cx="13898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1" i="0">
                <a:solidFill>
                  <a:srgbClr val="1F6F86"/>
                </a:solidFill>
                <a:latin typeface="Aptos"/>
              </a:rPr>
              <a:t>repositórios integrados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06624"/>
            <a:ext cx="20299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475467"/>
                </a:solidFill>
                <a:latin typeface="Aptos"/>
              </a:rPr>
              <a:t>Interface, API/dados e automação fiscal.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5" y="1993392"/>
            <a:ext cx="24323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194560"/>
            <a:ext cx="713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62751"/>
                </a:solidFill>
                <a:latin typeface="Aptos"/>
              </a:rPr>
              <a:t>292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2212848"/>
            <a:ext cx="13898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1" i="0">
                <a:solidFill>
                  <a:srgbClr val="1F6F86"/>
                </a:solidFill>
                <a:latin typeface="Aptos"/>
              </a:rPr>
              <a:t>cenários de teste no 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706624"/>
            <a:ext cx="20299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475467"/>
                </a:solidFill>
                <a:latin typeface="Aptos"/>
              </a:rPr>
              <a:t>101 no frontend, 155 na API e 36 na automação.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02152"/>
            <a:ext cx="24323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703320"/>
            <a:ext cx="8595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62751"/>
                </a:solidFill>
                <a:latin typeface="Aptos"/>
              </a:rPr>
              <a:t>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21608"/>
            <a:ext cx="11521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1" i="0">
                <a:solidFill>
                  <a:srgbClr val="1F6F86"/>
                </a:solidFill>
                <a:latin typeface="Aptos"/>
              </a:rPr>
              <a:t>acesso por perfil e tela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15384"/>
            <a:ext cx="20299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475467"/>
                </a:solidFill>
                <a:latin typeface="Aptos"/>
              </a:rPr>
              <a:t>Separação de funções entre operação, gestão e TI.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8415" y="3502152"/>
            <a:ext cx="24323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296" y="3703320"/>
            <a:ext cx="8595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62751"/>
                </a:solidFill>
                <a:latin typeface="Aptos"/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3721608"/>
            <a:ext cx="11521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1" i="0">
                <a:solidFill>
                  <a:srgbClr val="1F6F86"/>
                </a:solidFill>
                <a:latin typeface="Aptos"/>
              </a:rPr>
              <a:t>trilhas e estados rastreáveis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4215384"/>
            <a:ext cx="20299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0" b="0" i="0">
                <a:solidFill>
                  <a:srgbClr val="475467"/>
                </a:solidFill>
                <a:latin typeface="Aptos"/>
              </a:rPr>
              <a:t>Alterações, eventos, lotes, erros, PDFs e protocolos.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1554480"/>
            <a:ext cx="53400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88521"/>
                </a:solidFill>
                <a:latin typeface="Aptos"/>
              </a:rPr>
              <a:t>Próximos 90 dias: transformar capacidade em resultado medido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2089404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1984248"/>
            <a:ext cx="44714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2276856"/>
            <a:ext cx="44714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Congelar linha de base: tempo de emissão, glosa, recurso, recebimento e custo.</a:t>
            </a:r>
          </a:p>
        </p:txBody>
      </p:sp>
      <p:sp>
        <p:nvSpPr>
          <p:cNvPr id="27" name="Oval 26"/>
          <p:cNvSpPr/>
          <p:nvPr/>
        </p:nvSpPr>
        <p:spPr>
          <a:xfrm>
            <a:off x="6199632" y="2862072"/>
            <a:ext cx="384048" cy="384048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958084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2852928"/>
            <a:ext cx="44714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Adoção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3145536"/>
            <a:ext cx="44714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Formalizar responsáveis, SLAs e uso do fluxo único por área.</a:t>
            </a:r>
          </a:p>
        </p:txBody>
      </p:sp>
      <p:sp>
        <p:nvSpPr>
          <p:cNvPr id="31" name="Oval 30"/>
          <p:cNvSpPr/>
          <p:nvPr/>
        </p:nvSpPr>
        <p:spPr>
          <a:xfrm>
            <a:off x="6199632" y="3730752"/>
            <a:ext cx="384048" cy="384048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3826764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3721608"/>
            <a:ext cx="44714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Resultado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4014215"/>
            <a:ext cx="44714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Publicar painel mensal de recuperação, aging, perdas e produtividade.</a:t>
            </a:r>
          </a:p>
        </p:txBody>
      </p:sp>
      <p:sp>
        <p:nvSpPr>
          <p:cNvPr id="35" name="Oval 34"/>
          <p:cNvSpPr/>
          <p:nvPr/>
        </p:nvSpPr>
        <p:spPr>
          <a:xfrm>
            <a:off x="6199632" y="4599431"/>
            <a:ext cx="384048" cy="384048"/>
          </a:xfrm>
          <a:prstGeom prst="ellipse">
            <a:avLst/>
          </a:prstGeom>
          <a:solidFill>
            <a:srgbClr val="C8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4695444"/>
            <a:ext cx="384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6" y="4590288"/>
            <a:ext cx="44714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062751"/>
                </a:solidFill>
                <a:latin typeface="Aptos"/>
              </a:rPr>
              <a:t>Decisão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1696" y="4882895"/>
            <a:ext cx="44714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67085"/>
                </a:solidFill>
                <a:latin typeface="Aptos"/>
              </a:rPr>
              <a:t>Comparar TCO interno e recuperação atribuível antes da decisão contratual.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413248"/>
            <a:ext cx="10881360" cy="685800"/>
          </a:xfrm>
          <a:prstGeom prst="roundRect">
            <a:avLst/>
          </a:prstGeom>
          <a:solidFill>
            <a:srgbClr val="E7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5641848"/>
            <a:ext cx="102229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4F63"/>
                </a:solidFill>
                <a:latin typeface="Aptos"/>
              </a:rPr>
              <a:t>Métrica executiva recomendada: dinheiro recuperado + tempo até o caixa + custo operacional do ciclo.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6656" y="6574536"/>
            <a:ext cx="987552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0">
                <a:solidFill>
                  <a:srgbClr val="667085"/>
                </a:solidFill>
                <a:latin typeface="Aptos"/>
              </a:rPr>
              <a:t>Contagem de testes baseada nas funções de teste catalogadas em 29/07/2026; não equivale a relatório de execução nesta apresentação.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556248"/>
            <a:ext cx="3840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6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7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F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FB6C7"/>
                </a:solidFill>
                <a:latin typeface="Aptos"/>
              </a:rPr>
              <a:t>DECISÃO EXECUTIVA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96112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O que precisamos da Alta Gestão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47088"/>
            <a:ext cx="4892040" cy="1115568"/>
          </a:xfrm>
          <a:prstGeom prst="roundRect">
            <a:avLst/>
          </a:prstGeom>
          <a:solidFill>
            <a:srgbClr val="173F64"/>
          </a:solidFill>
          <a:ln w="12700">
            <a:solidFill>
              <a:srgbClr val="31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2066543"/>
            <a:ext cx="438912" cy="438912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9456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57400"/>
            <a:ext cx="37764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Patrocinar o Receita Certa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23160"/>
            <a:ext cx="3776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D7E7"/>
                </a:solidFill>
                <a:latin typeface="Aptos"/>
              </a:rPr>
              <a:t>Reconhecer a solução como plataforma corporativa do ciclo da receita.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1847088"/>
            <a:ext cx="4892040" cy="1115568"/>
          </a:xfrm>
          <a:prstGeom prst="roundRect">
            <a:avLst/>
          </a:prstGeom>
          <a:solidFill>
            <a:srgbClr val="173F64"/>
          </a:solidFill>
          <a:ln w="12700">
            <a:solidFill>
              <a:srgbClr val="31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81344" y="2066543"/>
            <a:ext cx="438912" cy="438912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219456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57400"/>
            <a:ext cx="37764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Definir donos e SLAs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23160"/>
            <a:ext cx="3776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D7E7"/>
                </a:solidFill>
                <a:latin typeface="Aptos"/>
              </a:rPr>
              <a:t>Recepção, faturamento, financeiro, glosas e TI com responsabilidade explícita.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64408"/>
            <a:ext cx="4892040" cy="1115568"/>
          </a:xfrm>
          <a:prstGeom prst="roundRect">
            <a:avLst/>
          </a:prstGeom>
          <a:solidFill>
            <a:srgbClr val="173F64"/>
          </a:solidFill>
          <a:ln w="12700">
            <a:solidFill>
              <a:srgbClr val="31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" y="3483864"/>
            <a:ext cx="438912" cy="438912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1188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474720"/>
            <a:ext cx="37764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Medir valor mensalmente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840480"/>
            <a:ext cx="3776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D7E7"/>
                </a:solidFill>
                <a:latin typeface="Aptos"/>
              </a:rPr>
              <a:t>Tempo, custo, glosa, recuperação, perdas, exceções e adoção do fluxo.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0176" y="3264408"/>
            <a:ext cx="4892040" cy="1115568"/>
          </a:xfrm>
          <a:prstGeom prst="roundRect">
            <a:avLst/>
          </a:prstGeom>
          <a:solidFill>
            <a:srgbClr val="173F64"/>
          </a:solidFill>
          <a:ln w="12700">
            <a:solidFill>
              <a:srgbClr val="31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81344" y="3483864"/>
            <a:ext cx="438912" cy="438912"/>
          </a:xfrm>
          <a:prstGeom prst="ellipse">
            <a:avLst/>
          </a:prstGeom>
          <a:solidFill>
            <a:srgbClr val="1F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361188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74720"/>
            <a:ext cx="37764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Reavaliar o fornecedor por evidência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40480"/>
            <a:ext cx="37764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D7E7"/>
                </a:solidFill>
                <a:latin typeface="Aptos"/>
              </a:rPr>
              <a:t>Contrato comparado a recuperação atribuível, cobertura e TCO institucional.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8" y="4965192"/>
            <a:ext cx="10661904" cy="0"/>
          </a:xfrm>
          <a:prstGeom prst="line">
            <a:avLst/>
          </a:prstGeom>
          <a:ln w="12700">
            <a:solidFill>
              <a:srgbClr val="31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5303520"/>
            <a:ext cx="7178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5FB6C7"/>
                </a:solidFill>
                <a:latin typeface="Aptos"/>
              </a:rPr>
              <a:t>A visão estratégica não foi automatizar uma tarefa.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24144"/>
            <a:ext cx="7178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Foi criar disciplina institucional sobre a receita.</a:t>
            </a:r>
          </a:p>
        </p:txBody>
      </p:sp>
      <p:pic>
        <p:nvPicPr>
          <p:cNvPr id="28" name="Picture 27" descr="prontocar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5148072"/>
            <a:ext cx="1444752" cy="14447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53144" y="624535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FC6D4"/>
                </a:solidFill>
                <a:latin typeface="Aptos"/>
              </a:rPr>
              <a:t>Receita Certa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Receita Certa — implantação da plataforma integrada do ciclo da receita</dc:title>
  <dc:subject>Apresentação estratégica para a alta gestão do Hospital Prontocardio</dc:subject>
  <dc:creator>Tecnologia da Informação — Hospital Prontocardio</dc:creator>
  <cp:keywords/>
  <dc:description>Conteúdo validado a partir dos repositórios api_prontocardio, prj_glosas e prj_web_nfs e do estudo interno da ZeroGlosa.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